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9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66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keshGaneshBabu/cnn-deep-features-with-classical-m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8F7F2"/>
          </a:solidFill>
          <a:ln w="19050">
            <a:solidFill>
              <a:srgbClr val="A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31573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F9E9A"/>
                </a:solidFill>
              </a:defRPr>
            </a:pPr>
            <a:r>
              <a:rPr dirty="0"/>
              <a:t>BEVD402L: AI/ML FOR IC DESIGN  |  GROUP 5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93746"/>
                </a:solidFill>
              </a:defRPr>
            </a:pPr>
            <a:r>
              <a:t>CNN Deep Features with Classical Machine Learning for Lithography Hotspot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6601"/>
            <a:ext cx="737823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B53"/>
                </a:solidFill>
              </a:defRPr>
            </a:pPr>
            <a:r>
              <a:rPr dirty="0"/>
              <a:t>A Controlled Factorial Ablation of Backbone, Classification Head, and Loss on ICCAD-12</a:t>
            </a:r>
            <a:endParaRPr lang="en-US" dirty="0"/>
          </a:p>
          <a:p>
            <a:pPr>
              <a:defRPr sz="1600">
                <a:solidFill>
                  <a:srgbClr val="424B53"/>
                </a:solidFill>
              </a:defRPr>
            </a:pPr>
            <a:r>
              <a:rPr lang="en-IN" dirty="0"/>
              <a:t>	</a:t>
            </a:r>
          </a:p>
          <a:p>
            <a:pPr>
              <a:defRPr sz="1600">
                <a:solidFill>
                  <a:srgbClr val="424B53"/>
                </a:solidFill>
              </a:defRPr>
            </a:pPr>
            <a:r>
              <a:rPr lang="en-IN" dirty="0"/>
              <a:t>	</a:t>
            </a:r>
            <a:r>
              <a:rPr lang="en-IN" dirty="0">
                <a:hlinkClick r:id="rId3"/>
              </a:rPr>
              <a:t>github.com/</a:t>
            </a:r>
            <a:r>
              <a:rPr lang="en-IN" dirty="0" err="1">
                <a:hlinkClick r:id="rId3"/>
              </a:rPr>
              <a:t>YokeshGaneshBabu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cnn</a:t>
            </a:r>
            <a:r>
              <a:rPr lang="en-IN" dirty="0">
                <a:hlinkClick r:id="rId3"/>
              </a:rPr>
              <a:t>-deep-features-with-classical-ml/</a:t>
            </a:r>
            <a:endParaRPr lang="en-IN" dirty="0"/>
          </a:p>
          <a:p>
            <a:pPr>
              <a:defRPr sz="1600">
                <a:solidFill>
                  <a:srgbClr val="424B53"/>
                </a:solidFill>
              </a:defRPr>
            </a:pP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50" b="1">
                <a:solidFill>
                  <a:srgbClr val="293746"/>
                </a:solidFill>
                <a:latin typeface="Arial"/>
              </a:rPr>
              <a:t>Hari Krisshna R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100" b="1">
                <a:solidFill>
                  <a:srgbClr val="6F9E9A"/>
                </a:solidFill>
                <a:latin typeface="Arial"/>
              </a:rPr>
              <a:t>Reg. No: 23BVD1035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050" b="1">
                <a:solidFill>
                  <a:srgbClr val="424B53"/>
                </a:solidFill>
                <a:latin typeface="Arial"/>
              </a:rPr>
              <a:t>Role: </a:t>
            </a:r>
            <a:r>
              <a:rPr sz="1050" b="0">
                <a:solidFill>
                  <a:srgbClr val="424B53"/>
                </a:solidFill>
                <a:latin typeface="Arial"/>
              </a:rPr>
              <a:t>Problem Formulation &amp; Literature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3749039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50" b="1">
                <a:solidFill>
                  <a:srgbClr val="293746"/>
                </a:solidFill>
                <a:latin typeface="Arial"/>
              </a:rPr>
              <a:t>Yokesh G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100" b="1">
                <a:solidFill>
                  <a:srgbClr val="6F9E9A"/>
                </a:solidFill>
                <a:latin typeface="Arial"/>
              </a:rPr>
              <a:t>Reg. No: 23BVD1036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050" b="1">
                <a:solidFill>
                  <a:srgbClr val="424B53"/>
                </a:solidFill>
                <a:latin typeface="Arial"/>
              </a:rPr>
              <a:t>Role: </a:t>
            </a:r>
            <a:r>
              <a:rPr sz="1050" b="0">
                <a:solidFill>
                  <a:srgbClr val="424B53"/>
                </a:solidFill>
                <a:latin typeface="Arial"/>
              </a:rPr>
              <a:t>End-to-End Pipeline &amp; CNN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3749039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50" b="1">
                <a:solidFill>
                  <a:srgbClr val="293746"/>
                </a:solidFill>
                <a:latin typeface="Arial"/>
              </a:rPr>
              <a:t>Tinu P Mathew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100" b="1">
                <a:solidFill>
                  <a:srgbClr val="6F9E9A"/>
                </a:solidFill>
                <a:latin typeface="Arial"/>
              </a:rPr>
              <a:t>Reg. No: 23BVD1038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050" b="1">
                <a:solidFill>
                  <a:srgbClr val="424B53"/>
                </a:solidFill>
                <a:latin typeface="Arial"/>
              </a:rPr>
              <a:t>Role: </a:t>
            </a:r>
            <a:r>
              <a:rPr sz="1050" b="0">
                <a:solidFill>
                  <a:srgbClr val="424B53"/>
                </a:solidFill>
                <a:latin typeface="Arial"/>
              </a:rPr>
              <a:t>Statistical Rigor &amp; Critical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362895" cy="685800"/>
          </a:xfrm>
          <a:prstGeom prst="roundRect">
            <a:avLst/>
          </a:prstGeom>
          <a:solidFill>
            <a:srgbClr val="E8D9C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93746"/>
                </a:solidFill>
              </a:defRPr>
            </a:pPr>
            <a:r>
              <a:t>EXECUTIVE PREVIEW: A rigorous 100-CNN empirical audit across 5 random seeds demonstrating why lightweight end-to-end CNNs (6,949 params) systematically outperform complex 163k residual ensembles in accuracy, calibration, and latency.</a:t>
            </a:r>
          </a:p>
        </p:txBody>
      </p:sp>
      <p:pic>
        <p:nvPicPr>
          <p:cNvPr id="3" name="Picture 2" descr="Download Github, Github Logo, Github Icon. Royalty-Free ...">
            <a:extLst>
              <a:ext uri="{FF2B5EF4-FFF2-40B4-BE49-F238E27FC236}">
                <a16:creationId xmlns:a16="http://schemas.microsoft.com/office/drawing/2014/main" id="{D35DB33D-3DEA-226C-932C-62E5CE4A0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8235" y="3365210"/>
            <a:ext cx="225010" cy="225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I: MOTIVATION &amp;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The IC Verification Crisis: 193nm Lithography &amp; The Simulation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Diffraction limits create catastrophic open/short defects; full-chip physics solvers require 100s of CPU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2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The Sub-Wavelength Optical Gap: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6F9E9A"/>
                </a:solidFill>
                <a:latin typeface="Arial"/>
              </a:rPr>
              <a:t>• 193nm Immersion Lithography: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Deep sub-micron nodes (32nm/28nm) print features far smaller than the 193nm wavelength of </a:t>
            </a:r>
            <a:r>
              <a:rPr sz="1400" b="0" dirty="0" err="1">
                <a:solidFill>
                  <a:srgbClr val="424B53"/>
                </a:solidFill>
                <a:latin typeface="Arial"/>
              </a:rPr>
              <a:t>ArF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 lasers, causing severe Optical Proximity Effects (OPE).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C98470"/>
                </a:solidFill>
                <a:latin typeface="Arial"/>
              </a:rPr>
              <a:t>• Fatal Lithography Hotspots: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Specific 2D geometries suffer catastrophic constructive or destructive interference: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  • Bridging Defects: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Adjacent metal lines short together.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  • Necking Defects: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Lines break, causing open circuits.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C98470"/>
                </a:solidFill>
                <a:latin typeface="Arial"/>
              </a:rPr>
              <a:t>• Zero Tolerance in Tape-Out: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A single uncorrected fatal defect across billions of transistors destroys chip functionality, causing ZERO wafer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C7D8E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The Physical Verification Bottleneck: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Full-Chip Numerical Lithography Solvers: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Physics-based Maxwell equation solvers simulate aerial image intensity and photoresist exposure with extreme accuracy.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C98470"/>
                </a:solidFill>
                <a:latin typeface="Arial"/>
              </a:rPr>
              <a:t>• Astronomical Compute Cost: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Simulating 100 million layout clips takes hundreds of CPU hours, creating an intolerable bottleneck during iterative routing.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6F9E9A"/>
                </a:solidFill>
                <a:latin typeface="Arial"/>
              </a:rPr>
              <a:t>• The AI/ML Screening Filter Solution: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A fast machine-learning model evaluates 96x96 layout clips in &lt;2 milliseconds, acting as a rapid triage filter: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  • Filter Safe Patterns: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Pass 99.9% of benign clips directly without simulation.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  • Target OPC Simulation: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Reserve expensive physics simulation solely for candidate defect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I: MOTIVATION &amp;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Research Objective: Dissecting the Popular Two-Stage CAD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Isolating Backbone, Classification Head, and Loss Function through a controlled factorial ablation.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3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The Widespread Two-Stage Motif in Literature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Common Academic Recipe: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A very popular design pattern in CAD papers is to train a convolutional neural network, tap its deep feature embeddings, and train a classical classifier (SVM or Random Forest) on top.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The Unanswered Question: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Does the reported accuracy gain originate from: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0" dirty="0">
                <a:solidFill>
                  <a:srgbClr val="424B53"/>
                </a:solidFill>
                <a:latin typeface="Arial"/>
              </a:rPr>
              <a:t>• 1. The CNN backbone representation?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0" dirty="0">
                <a:solidFill>
                  <a:srgbClr val="424B53"/>
                </a:solidFill>
                <a:latin typeface="Arial"/>
              </a:rPr>
              <a:t>• 2. The classical classification head?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0" dirty="0">
                <a:solidFill>
                  <a:srgbClr val="424B53"/>
                </a:solidFill>
                <a:latin typeface="Arial"/>
              </a:rPr>
              <a:t>• 3. The loss function (Focal vs BCE)?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0" dirty="0">
                <a:solidFill>
                  <a:srgbClr val="424B53"/>
                </a:solidFill>
                <a:latin typeface="Arial"/>
              </a:rPr>
              <a:t>• 4. Or merely test-set threshold tuning?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• Literature Confounding: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Prior papers varied multiple factors at once, reporting single-run results without error bars or frozen validation containment.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E8D9C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Group 5's Controlled Factorial Matrix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Pillar 1: Backbone Factor: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Compact Reference CNN (6,949 params) vs Proposed Residual </a:t>
            </a:r>
            <a:r>
              <a:rPr sz="1400" b="0" dirty="0" err="1">
                <a:solidFill>
                  <a:srgbClr val="424B53"/>
                </a:solidFill>
                <a:latin typeface="Arial"/>
              </a:rPr>
              <a:t>Depthwise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 CNN (163,489 params).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Pillar 2: Classical Head Factor: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Native Sigmoid vs RBF-SVM, Random Forest (300 trees), Logistic Regression, Decision Tree, and Soft-Voting Ensemble.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Pillar 3: Loss Function Factor: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Class-Weighted Binary Cross-Entropy vs Focal Loss (gamma = 2.0, alpha = 0.75).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Pillar 4: Feature Depth Factor: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Early (64-d), Late (128-d), and Combined (192-d) feature taps.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C98470"/>
                </a:solidFill>
                <a:latin typeface="Arial"/>
              </a:rPr>
              <a:t>• Strict Out-of-Sample Protocol: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Thresholds chosen strictly on validation balanced accuracy; official test set scored once per model across 5 seeds (100 CNNs).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II: METHODOLOGY &amp; MODEL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Architectural Contrast: 7k Reference CNN vs 163k Residual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The compact Reference CNN preserves nanometer spatial coordinates; the Proposed CNN adds depthwise blocks but collapses coordinates via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4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11994"/>
            <a:ext cx="4992624" cy="21550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178808"/>
            <a:ext cx="499262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2: Reference CNN (6,949 parameters) with ELU &amp; direct tensor flattening.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52120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Reference CNN [1] (6,949 Params | 51.1 MFLOPs):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424B53"/>
                </a:solidFill>
                <a:latin typeface="Arial"/>
              </a:rPr>
              <a:t>• Reimplemented from Verma et al. [1]: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2 Conv Blocks (3x3 </a:t>
            </a:r>
            <a:r>
              <a:rPr sz="1400" b="0" dirty="0" err="1">
                <a:solidFill>
                  <a:srgbClr val="424B53"/>
                </a:solidFill>
                <a:latin typeface="Arial"/>
              </a:rPr>
              <a:t>convs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, 12 filters, ELU, BN, max-pool).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6F9E9A"/>
                </a:solidFill>
                <a:latin typeface="Arial"/>
              </a:rPr>
              <a:t>• Direct Flattening: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4x4x12 tensor flattens directly into 192 dense inputs </a:t>
            </a:r>
            <a:r>
              <a:rPr lang="en-US" sz="1400" dirty="0">
                <a:solidFill>
                  <a:srgbClr val="424B53"/>
                </a:solidFill>
                <a:latin typeface="Arial"/>
                <a:sym typeface="Wingdings" panose="05000000000000000000" pitchFamily="2" charset="2"/>
              </a:rPr>
              <a:t>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 preserves nanometer coordinates!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400" b="1" dirty="0">
                <a:solidFill>
                  <a:srgbClr val="293746"/>
                </a:solidFill>
                <a:latin typeface="Arial"/>
              </a:rPr>
              <a:t>• Latency: 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1.58 </a:t>
            </a:r>
            <a:r>
              <a:rPr sz="1400" b="0" dirty="0" err="1">
                <a:solidFill>
                  <a:srgbClr val="424B53"/>
                </a:solidFill>
                <a:latin typeface="Arial"/>
              </a:rPr>
              <a:t>ms</a:t>
            </a:r>
            <a:r>
              <a:rPr sz="1400" b="0" dirty="0">
                <a:solidFill>
                  <a:srgbClr val="424B53"/>
                </a:solidFill>
                <a:latin typeface="Arial"/>
              </a:rPr>
              <a:t> per clip on Tesla T4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I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197" y="1709928"/>
            <a:ext cx="4129524" cy="2359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7648" y="4178808"/>
            <a:ext cx="499262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3: Proposed residual depthwise-separable CNN (163,489 parameters) with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17720"/>
            <a:ext cx="5212080" cy="1737360"/>
          </a:xfrm>
          <a:prstGeom prst="roundRect">
            <a:avLst/>
          </a:prstGeom>
          <a:solidFill>
            <a:srgbClr val="D9D0E8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Proposed Residual CNN (163,489 Params | 116.4 MFLOPs):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• </a:t>
            </a:r>
            <a:r>
              <a:rPr sz="1300" b="1" dirty="0" err="1">
                <a:solidFill>
                  <a:srgbClr val="424B53"/>
                </a:solidFill>
                <a:latin typeface="Arial"/>
              </a:rPr>
              <a:t>MobileNet</a:t>
            </a:r>
            <a:r>
              <a:rPr sz="1300" b="1" dirty="0">
                <a:solidFill>
                  <a:srgbClr val="424B53"/>
                </a:solidFill>
                <a:latin typeface="Arial"/>
              </a:rPr>
              <a:t>/</a:t>
            </a:r>
            <a:r>
              <a:rPr sz="1300" b="1" dirty="0" err="1">
                <a:solidFill>
                  <a:srgbClr val="424B53"/>
                </a:solidFill>
                <a:latin typeface="Arial"/>
              </a:rPr>
              <a:t>ResNet</a:t>
            </a:r>
            <a:r>
              <a:rPr sz="1300" b="1" dirty="0">
                <a:solidFill>
                  <a:srgbClr val="424B53"/>
                </a:solidFill>
                <a:latin typeface="Arial"/>
              </a:rPr>
              <a:t> Blocks: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Stem conv + 3 Residual Blocks with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depthwise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-separable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convs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 (64, 128, 192 filters).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The Fatal Flaw: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Global Average Pooling (GAP) averages spatial feature maps, destroying exact defect coordinates.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Latency: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2.32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ms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 per clip (23.5x larger footprint).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III: EXPERIMENTAL PROTOCOL &amp; DATASET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Dataset Architecture &amp; Out-of-Sample Protocol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Auditing ICCAD-2012 benchmark class skew, clip provenance, and enforcing 5-seed statistical containment.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</a:t>
            </a:r>
            <a:r>
              <a:rPr dirty="0"/>
              <a:t>Slide 5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685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 Node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HS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NHS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HS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NHS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HS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Skew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ICCAD-1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32nm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4,679*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 : 20.7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ICCAD-2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5,285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498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41,298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 : 82.9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ICCAD-3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46,333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 : 25.6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ICCAD-4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4,452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31,890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 : 180.2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ICCAD-5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19,327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rPr dirty="0"/>
                        <a:t>1 : 471.4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600200"/>
            <a:ext cx="3657600" cy="4572000"/>
          </a:xfrm>
          <a:prstGeom prst="roundRect">
            <a:avLst/>
          </a:prstGeom>
          <a:solidFill>
            <a:srgbClr val="C7D8E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The Out-of-Sample Containment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Strict 85/15 Split: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Training data split into 85% train and 15% validation. Official test set completely untouched.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Frozen Threshold tau: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ta</a:t>
            </a:r>
            <a:r>
              <a:rPr lang="en-US" sz="1300" b="0" dirty="0">
                <a:solidFill>
                  <a:srgbClr val="424B53"/>
                </a:solidFill>
                <a:latin typeface="Arial"/>
              </a:rPr>
              <a:t>u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 chosen strictly to maximize validation Balanced Accuracy. Scored on test set exactly once.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5 Random Seeds (0 to 4):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Controls initializations, splits, shuffling, and tree seeds (100 CNN runs total).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Holm-Bonferroni Correction: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Controls Family-Wise Error Rate across 22 pre-specified paired t-tests at alpha = 0.05.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Scientific Candor on ICCAD-1: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Our copy contains 4,679 test NHS clips vs 3,869 in contest release. Documenting this preserves reproducibility.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6858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The Critical Dataset Nuances from Table 1: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• Extreme Class Prior Shift: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Hotspot rarity surges from train to test (up to 4.5x rarer in ICCAD-5).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Tiny Positive Validation Sets: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ICCAD-5 validation splits contain only 4 hotspots; ICCAD-4 has 14; ICCAD-1 has 15.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Why Literature 'Cheated':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Prior authors swept thresholds directly on the test set to inflate metrics. We accept out-of-sample threshold regret to report honest real-world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IV: RESULTS &amp; EMPIRICAL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Primary Finding: The Simple 7k Reference CNN Systematically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Reference CNN achieves 0.924 Balanced Accuracy vs 0.886; monopolizes top 10 places in global configuration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6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3035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69" y="1709928"/>
            <a:ext cx="4410221" cy="2084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390448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4: Balanced Accuracy per benchmark (Ref CNN vs Proposed CNN &amp; Heads, 5 seeds).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Id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305" y="4453128"/>
            <a:ext cx="1815949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600760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5: Top 18 configurations ranking (Ref CNN occupies top 10).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Key Empirical Metrics Breakdown (Table 4):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Higher Aggregate Balanced Accuracy: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Reference CNN achieves 0.924 +/- 0.019 vs 0.886 +/- 0.014 for Proposed CNN.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Benchmark Breakdown (Figure 4):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ICCAD-1 (32nm):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0.908 (Ref) vs 0.789 (Prop)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  • ICCAD-2 (Dense 28nm):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0.967 (Ref) vs 0.864 (Prop) — Massive gap!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ICCAD-3 (28nm):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0.948 (Ref) vs 0.905 (Prop)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Identical Recall (90.7% vs 90.4%):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Both backbones catch the same percentage of defects, so where is the deficit?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2x False Alarm Penalty (Table 4):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The Proposed CNN generates MORE THAN DOUBLE the false alarms (2,484 vs 1,204), collapsing its F1 score from 0.467 down to 0.297.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A8B9A0"/>
                </a:solidFill>
                <a:latin typeface="Arial"/>
              </a:rPr>
              <a:t>• Top 10 Monopolized (Figure 5):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Configurations built on the 7k Reference backbone occupy the top 10 places globally without 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IV: RESULTS &amp; EMPIRICAL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Factorial Ablation Forest Plot: Isolating True Effect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Paired t-tests with Holm-Bonferroni correction isolate the drivers: Backbone is decisive; Heads and Losses are null.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7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59000"/>
            <a:ext cx="5084064" cy="310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82472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3 (Critique): Forest plot of 13 primary comparisons (Delta BA +/- 95% bootstrap CI). Dark = Holm p &lt;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Statistical Audit of Table 6 Hypothesis Tests: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1. Backbone Effect is Decisive (Dark Markers):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Holding late heads fixed, the Proposed backbone loses significantly across all classifiers: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SVM Head: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Delta = -0.059 (Holm p = 0.0005) [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Signif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.]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Random Forest: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Delta = -0.054 (Holm p = 0.0331) [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Signif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.]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Logistic Reg.: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Delta = -0.046 (Holm p = 0.0291) [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Signif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.]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Ensemble: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Delta = -0.046 (Holm p = 0.0153) [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Signif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.]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2. Head Effect is Completely Null: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Every classical head comparison against native CNN output clusters tightly around zero (|Delta| &lt;= 0.009). All Holm-adjusted p = 1.000! Stacking heads adds zero statistical value.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• 3. Loss Effect is Completely Null: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Focal vs BCE difference is near zero (Delta = +0.001 to +0.007; all Holm p = 1.000).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A8B9A0"/>
                </a:solidFill>
                <a:latin typeface="Arial"/>
              </a:rPr>
              <a:t>• 4. Feature Depth is Decisive: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Late features significantly outperform early features by +0.088 to +0.143 (all Holm p &lt; 0.05).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V: DISCUSSION &amp; PHYSICAL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Physical &amp; Architectural Mechanisms: Why Did the Simple Model Win?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Three technical mechanisms explain the reversal: small-sample capacity mismatch, pooling collapse, and filter decoupling.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8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1. CAPACITY MISMATCH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Small Positive Sets: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ICCAD-12 training sets contain as few as 26 positive hotspots (ICCAD-5), 95 (ICCAD-4), and 99 (ICCAD-1).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163k Parameters Overfitting: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Providing 163,489 parameters to learn from 26 positive examples provides excessive capacity.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• Memorizing Noise: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The deep network memorized idiosyncratic background polygon shapes rather than genuine optical proximity rules.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A8B9A0"/>
                </a:solidFill>
                <a:latin typeface="Arial"/>
              </a:rPr>
              <a:t>• 7k Inductive Bias: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The Reference CNN's compact size acts as a natural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regularizer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572000"/>
          </a:xfrm>
          <a:prstGeom prst="roundRect">
            <a:avLst/>
          </a:prstGeom>
          <a:solidFill>
            <a:srgbClr val="C7D8E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2. SPATIAL DESTRUCTION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The Yang et al. Law [3]: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Hotspot detection requires nanometer spatial sensitivity; a 2nm line-end shift determines open vs bridge.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GAP Collapse: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Global Average Pooling collapses 2D feature maps into spatial averages across height and width.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Obliterating Coordinates: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Averaging makes it impossible to distinguish which specific corner violated design margins.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Flattening Superiority: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The Reference CNN flattens its tensor directly, preserving exact 2D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572000"/>
          </a:xfrm>
          <a:prstGeom prst="roundRect">
            <a:avLst/>
          </a:prstGeom>
          <a:solidFill>
            <a:srgbClr val="E8D9C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3. FILTER DECOUPLING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Separable Convolutions [9]: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Depthwise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-separable convolutions split spatial filtering from cross-channel mixing.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Standard </a:t>
            </a:r>
            <a:r>
              <a:rPr sz="1300" b="1" dirty="0" err="1">
                <a:solidFill>
                  <a:srgbClr val="293746"/>
                </a:solidFill>
                <a:latin typeface="Arial"/>
              </a:rPr>
              <a:t>Convs</a:t>
            </a:r>
            <a:r>
              <a:rPr sz="1300" b="1" dirty="0">
                <a:solidFill>
                  <a:srgbClr val="293746"/>
                </a:solidFill>
                <a:latin typeface="Arial"/>
              </a:rPr>
              <a:t> as Corner Detectors: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On 96x96 binary layout clips, standard 3x3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convs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 with 12 filters act as direct 2D edge and corner detectors.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Gradient Dilution: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Decoupling spatial filtering across channels diluted backpropagation gradients.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Computer Vision Myth: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MobileNet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 building blocks optimized for ImageNet textures do not transfer to VLSI layouts.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IV: RESULTS &amp; EMPIRICAL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Probability Calibration &amp; Threshold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Reference CNN achieves ECE 0.042; Decision Tree collapses to 0.564 BA under 2x False Positive Rate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9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682" y="1709928"/>
            <a:ext cx="3033195" cy="2359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17880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8: Reliability diagrams for ICCAD-2 &amp; 5: raw scores (left) vs Platt + prior shift (right).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Expected Calibration Error (ECE) [Table 9]: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Reference CNN is Superior: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Raw ECE 0.064 -&gt; drops to 0.042 under Platt scaling + Saerens prior-shift adjustment.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Proposed CNN is Overconfident: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Raw ECE 0.118 -&gt; only drops to 0.097.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• CAD Significance: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Calibrated probabilities allow engineers to triage downstream OPC simulation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Id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302842"/>
            <a:ext cx="4992624" cy="14640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7648" y="4178808"/>
            <a:ext cx="499262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9: Test balanced accuracy vs validation FPR multiplier (0.25x to 4x).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17720"/>
            <a:ext cx="5212080" cy="1737360"/>
          </a:xfrm>
          <a:prstGeom prst="roundRect">
            <a:avLst/>
          </a:prstGeom>
          <a:solidFill>
            <a:srgbClr val="E8D9C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Threshold Perturbation Sweep [Table 10]: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Continuous Neural Resilience: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Reference CNN degrades smoothly (0.924 -&gt; 0.916 at 2x FPR), staying above all models.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The Decision Tree Collapse: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Under 2x FPR, Decision Tree crashes from 0.880 to 0.564 BA (near random guessing)!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Why Trees Crash: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Discrete leaf step-functions cause thousands of clips to cross the boundary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IV: RESULTS &amp; EMPIRICAL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The 11x Latency Cliff: Compute Cost &amp; Full-Chip Tape-Out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Random Forest and ensemble heads introduce an 11-fold latency penalty (17.3 ms vs 1.58 ms), exploding turnaround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10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57338"/>
            <a:ext cx="5084064" cy="3110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82472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4 (Critique): Efficiency vs Accuracy trade-off. Shaded red = 10x latency penalty zone (&gt;15 ms per clip).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737360"/>
          <a:ext cx="5212080" cy="216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Pipeline Configuration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 Latency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ms (batch 1)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Full-Chip TAT*</a:t>
                      </a:r>
                    </a:p>
                  </a:txBody>
                  <a:tcPr>
                    <a:solidFill>
                      <a:srgbClr val="29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Ref CNN (End-to-End)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0.00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1.58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4.4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Ref + SVM (Late)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6,949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0.34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2.29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6.4 Hours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Ref + Logistic Reg.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0.13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2.01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5.6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Ref + Random Forest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6,949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15.29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17.30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48.1 Hours*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Ref + Soft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15.76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17.37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48.3 Hours*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93746"/>
                          </a:solidFill>
                          <a:latin typeface="Arial"/>
                        </a:defRPr>
                      </a:pPr>
                      <a:r>
                        <a:t>Prop CNN (End-to-End)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163,489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0.00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2.32 ms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424B53"/>
                          </a:solidFill>
                          <a:latin typeface="Arial"/>
                        </a:defRPr>
                      </a:pPr>
                      <a:r>
                        <a:t>6.4 Hours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3977639"/>
            <a:ext cx="5029200" cy="1715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1100" b="1" dirty="0">
                <a:solidFill>
                  <a:srgbClr val="C98470"/>
                </a:solidFill>
              </a:rPr>
              <a:t>The Full-Chip Tape-Out Reality [Table 12]: 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C98470"/>
                </a:solidFill>
              </a:rPr>
              <a:t>•  The 11x Tree Traversal Cliff: </a:t>
            </a:r>
            <a:r>
              <a:rPr sz="1100" dirty="0">
                <a:solidFill>
                  <a:srgbClr val="424B53"/>
                </a:solidFill>
              </a:rPr>
              <a:t>Random Forest (15.29 </a:t>
            </a:r>
            <a:r>
              <a:rPr sz="1100" dirty="0" err="1">
                <a:solidFill>
                  <a:srgbClr val="424B53"/>
                </a:solidFill>
              </a:rPr>
              <a:t>ms</a:t>
            </a:r>
            <a:r>
              <a:rPr sz="1100" dirty="0">
                <a:solidFill>
                  <a:srgbClr val="424B53"/>
                </a:solidFill>
              </a:rPr>
              <a:t>) and Ensemble (15.76 </a:t>
            </a:r>
            <a:r>
              <a:rPr sz="1100" dirty="0" err="1">
                <a:solidFill>
                  <a:srgbClr val="424B53"/>
                </a:solidFill>
              </a:rPr>
              <a:t>ms</a:t>
            </a:r>
            <a:r>
              <a:rPr sz="1100" dirty="0">
                <a:solidFill>
                  <a:srgbClr val="424B53"/>
                </a:solidFill>
              </a:rPr>
              <a:t>) introduce an 11-fold latency cliff due to CPU pointer chasing across 300 tree structures.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293746"/>
                </a:solidFill>
              </a:rPr>
              <a:t>• Full-Chip Turnaround Time (10 Million Clips): 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6F9E9A"/>
                </a:solidFill>
              </a:rPr>
              <a:t>  - End-to-End Reference CNN: </a:t>
            </a:r>
            <a:r>
              <a:rPr sz="1100" dirty="0">
                <a:solidFill>
                  <a:srgbClr val="424B53"/>
                </a:solidFill>
              </a:rPr>
              <a:t>Finishes in 4.4 hours on a single workstation.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C98470"/>
                </a:solidFill>
              </a:rPr>
              <a:t>  - Random Forest Pipeline: </a:t>
            </a:r>
            <a:r>
              <a:rPr sz="1100" dirty="0">
                <a:solidFill>
                  <a:srgbClr val="424B53"/>
                </a:solidFill>
              </a:rPr>
              <a:t>Explodes runtime to 48.1 hours—two entire days of tape-out delay for ZERO accuracy gain!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A8B9A0"/>
                </a:solidFill>
              </a:rPr>
              <a:t>•  The Clear Pareto Optimum: </a:t>
            </a:r>
            <a:r>
              <a:rPr sz="1100" dirty="0">
                <a:solidFill>
                  <a:srgbClr val="424B53"/>
                </a:solidFill>
              </a:rPr>
              <a:t>End-to-end compact CNN is the global optimum in accuracy, compute, and turnaround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V: DISCUSSION &amp; INDUSTRIAL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Industrial Precision Collapse &amp; Grounding in Reddy et al. (ICCAD'19)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While models achieve 60-90% precision on benchmark ratios, operational precision collapses below 0.1% at full-chip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                                                       </a:t>
            </a:r>
            <a:r>
              <a:rPr lang="en-US" dirty="0"/>
              <a:t>       </a:t>
            </a:r>
            <a:r>
              <a:rPr dirty="0"/>
              <a:t>                  Slide 11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7151"/>
            <a:ext cx="5084064" cy="2990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824728"/>
            <a:ext cx="50840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24B53"/>
                </a:solidFill>
                <a:latin typeface="Arial"/>
              </a:defRPr>
            </a:pPr>
            <a:r>
              <a:t>Figure 6 (Critique): Operational Precision vs Class Imbalance Ratio (1:20 to 1:1,000,000).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The Mathematical Precision Collapse: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Consider an Outstanding Detector: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Suppose a model achieves 98% Recall and 99.9% Specificity (FPR = 0.1%):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On ICCAD-1 (1:20 imbalance):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Precision = 98.0% (looks brilliant in paper).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424B53"/>
                </a:solidFill>
                <a:latin typeface="Arial"/>
              </a:rPr>
              <a:t>  • On ICCAD-5 (1:471 imbalance):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Precision = 67.5% (manageable).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  • At Full-Chip Scale (1:1,000,000):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100M clips, 100 true hotspots. That exact same model generates 100,000 FALSE ALARMS! Operational precision = 0.098% (&lt; 0.1%)!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False Discovery Rate &gt; 99.9%: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In a production fab, over 99.9% of flagged candidate clips are false alarms, completely choking downstream OPC queues.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A8B9A0"/>
                </a:solidFill>
                <a:latin typeface="Arial"/>
              </a:rPr>
              <a:t>• Compliance with Reddy et al. (ICCAD 2019):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Auditing Balanced Accuracy, PR-AUC, and calibration adheres directly to the 'Marching Orders' of Reddy et al., providing real-world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VI: CONCLUSIONS &amp; ENGINEERING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Authoritative Conclusions: Four Principles for DFM CAD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Overturning our earlier DA-2 hypothesis and establishing evidence-based principles for industrial CAD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12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2194560"/>
          </a:xfrm>
          <a:prstGeom prst="roundRect">
            <a:avLst/>
          </a:prstGeom>
          <a:solidFill>
            <a:srgbClr val="C7D8E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1. Scientific Candor &amp; Transparency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Publishing an Honest Negative Result: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When unified protocols overturned our DA-2 hypothesis, we did not manipulate thresholds. We published a rigorously documented negative result supported by 100 CNN runs.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Methodological Rigor: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Supported by 5-seed variance, bootstrap intervals, and Holm-corrected hypothesis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2194560"/>
          </a:xfrm>
          <a:prstGeom prst="roundRect">
            <a:avLst/>
          </a:prstGeom>
          <a:solidFill>
            <a:srgbClr val="D9D0E8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2. Superiority of Compact Architectures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The 7k Reference CNN Wins: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Achieves superior balanced accuracy (0.924 vs 0.886), 2x fewer false alarms (1,204 vs 2,484), better calibration (ECE 0.042), and faster runtime (1.58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ms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Preserving 2D Coordinates: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Flattening preserves nanometer coordinates; deep architectures with GAP destroy localized defect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12080" cy="2194560"/>
          </a:xfrm>
          <a:prstGeom prst="roundRect">
            <a:avLst/>
          </a:prstGeom>
          <a:solidFill>
            <a:srgbClr val="E8D9C5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3. Dismantling the Classical Ensemble Myth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Zero Accuracy Improvement: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Stacking SVMs, Random Forests, or soft-voting ensembles on deep features provides zero statistically significant gain (adjusted p &gt;= 0.34).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C98470"/>
                </a:solidFill>
                <a:latin typeface="Arial"/>
              </a:rPr>
              <a:t>• Crippling Latency Penalty: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Random Forests introduce an 11-fold latency cliff (17.3 </a:t>
            </a:r>
            <a:r>
              <a:rPr sz="1300" b="0" dirty="0" err="1">
                <a:solidFill>
                  <a:srgbClr val="424B53"/>
                </a:solidFill>
                <a:latin typeface="Arial"/>
              </a:rPr>
              <a:t>ms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), destroying full-chip tape-out feasibility.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4. Real-World CAD Tool Alignment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Beyond Deceptive Contest Recall: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By auditing Balanced Accuracy, F1, PR-AUC, ECE calibration, and latency, our study satisfies the foundational principles of Reddy et al. (ICCAD 2019).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A8B9A0"/>
                </a:solidFill>
                <a:latin typeface="Arial"/>
              </a:rPr>
              <a:t>• Actionable CAD Guidance: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Lightweight, end-to-end CNNs trained from scratch offer the optimal screening filter for commercial DFM routing loops.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F9E9A"/>
                </a:solidFill>
                <a:latin typeface="Arial"/>
              </a:defRPr>
            </a:pPr>
            <a:r>
              <a:t>PART VI: COURSEWORK ADMINISTRATION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93746"/>
                </a:solidFill>
                <a:latin typeface="Arial"/>
              </a:defRPr>
            </a:pPr>
            <a:r>
              <a:t>Team Work Allocation &amp; Key Literature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24B53"/>
                </a:solidFill>
                <a:latin typeface="Arial"/>
              </a:defRPr>
            </a:pPr>
            <a:r>
              <a:t>Equal division of responsibilities across formulation, implementation, and analysis; catalog of primary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C969E"/>
                </a:solidFill>
                <a:latin typeface="Arial"/>
              </a:defRPr>
            </a:pPr>
            <a:r>
              <a:rPr dirty="0"/>
              <a:t>Group 5 | BEVD402L AI/ML for IC | VIT Chennai  </a:t>
            </a:r>
            <a:r>
              <a:rPr lang="en-US" dirty="0"/>
              <a:t>						</a:t>
            </a:r>
            <a:r>
              <a:rPr dirty="0"/>
              <a:t>Slide 13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Team Technical Contributions (Table 20):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Hari </a:t>
            </a:r>
            <a:r>
              <a:rPr sz="1300" b="1" dirty="0" err="1">
                <a:solidFill>
                  <a:srgbClr val="293746"/>
                </a:solidFill>
                <a:latin typeface="Arial"/>
              </a:rPr>
              <a:t>Krisshna</a:t>
            </a:r>
            <a:r>
              <a:rPr sz="1300" b="1" dirty="0">
                <a:solidFill>
                  <a:srgbClr val="293746"/>
                </a:solidFill>
                <a:latin typeface="Arial"/>
              </a:rPr>
              <a:t> R (23BVD1035):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Problem formulation, translation of DA-2 feedback into factorial matrix, 33-paper literature survey, metric extraction from [33], and Sections 1-3 authoring.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6F9E9A"/>
                </a:solidFill>
                <a:latin typeface="Arial"/>
              </a:rPr>
              <a:t>• Yokesh G (23BVD1036):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End-to-end implementation of complete codebase: 100 CNN runs on Kaggle T4 GPUs, Reference/Proposed architectures, feature taps, classical heads, statistical tests, and GitHub repository.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300" b="1" dirty="0">
                <a:solidFill>
                  <a:srgbClr val="293746"/>
                </a:solidFill>
                <a:latin typeface="Arial"/>
              </a:rPr>
              <a:t>• Tinu P Mathew (23BVD1038): </a:t>
            </a:r>
            <a:r>
              <a:rPr sz="1300" b="0" dirty="0">
                <a:solidFill>
                  <a:srgbClr val="424B53"/>
                </a:solidFill>
                <a:latin typeface="Arial"/>
              </a:rPr>
              <a:t>Result analysis across benchmarks, bootstrap intervals, calibration, threshold sensitivity, compute cost profiling, baseline comparison with [1], physical mechanism deconstruction, and Sections 6-9.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293746"/>
                </a:solidFill>
                <a:latin typeface="Arial"/>
              </a:rPr>
              <a:t>Key Primary References: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[1] Verma, Rao &amp; Hegde (IIT Bombay):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Custom CNN hotspot detection baseline.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[2] Borisov &amp; Scheible (SMACD'18):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Compact CNN with D4 dihedral augmentation.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[3] Yang, Lin, Yu &amp; Young (SOCC'17): </a:t>
            </a:r>
            <a:r>
              <a:rPr sz="1200" b="0" dirty="0" err="1">
                <a:solidFill>
                  <a:srgbClr val="424B53"/>
                </a:solidFill>
                <a:latin typeface="Arial"/>
              </a:rPr>
              <a:t>Strided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 convolutions vs pooling in hotspots.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[4] Yu, Lin, Jiang &amp; Chiang (TCAD'15):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Topological SVM classification.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[10] Torres (ICCAD'12):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ICCAD-2012 CAD contest benchmark suite.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C98470"/>
                </a:solidFill>
                <a:latin typeface="Arial"/>
              </a:rPr>
              <a:t>[12] Reddy, Madkour &amp; Makris (ICCAD'19):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Fallacies, pitfalls and marching orders.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[13] Lin et al. (ICCV'17):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Focal loss for dense object detection.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A8B9A0"/>
                </a:solidFill>
                <a:latin typeface="Arial"/>
              </a:rPr>
              <a:t>[21] Holm (1979):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Sequentially rejective multiple test procedure.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[31] Shin &amp; Lee (JM3'16):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First deep CNN on raw layout clips.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sz="1200" b="1" dirty="0">
                <a:solidFill>
                  <a:srgbClr val="424B53"/>
                </a:solidFill>
                <a:latin typeface="Arial"/>
              </a:rPr>
              <a:t>[33] Yang et al. (JM3'17): </a:t>
            </a:r>
            <a:r>
              <a:rPr sz="1200" b="0" dirty="0">
                <a:solidFill>
                  <a:srgbClr val="424B53"/>
                </a:solidFill>
                <a:latin typeface="Arial"/>
              </a:rPr>
              <a:t>Imbalance aware deep CNN with biased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8F7F2"/>
          </a:solidFill>
          <a:ln w="19050">
            <a:solidFill>
              <a:srgbClr val="A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10362895" cy="502920"/>
          </a:xfrm>
          <a:prstGeom prst="roundRect">
            <a:avLst/>
          </a:prstGeom>
          <a:solidFill>
            <a:srgbClr val="293746"/>
          </a:solidFill>
          <a:ln w="12700">
            <a:solidFill>
              <a:srgbClr val="DE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D9C5"/>
                </a:solidFill>
              </a:defRPr>
            </a:pPr>
            <a:r>
              <a:rPr dirty="0"/>
              <a:t>BEVD402L: AI/ML FOR IC DESIGN  •  GROUP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581" y="1645920"/>
            <a:ext cx="19405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93746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56528-A17B-3964-9919-012100045E17}"/>
              </a:ext>
            </a:extLst>
          </p:cNvPr>
          <p:cNvSpPr txBox="1"/>
          <p:nvPr/>
        </p:nvSpPr>
        <p:spPr>
          <a:xfrm>
            <a:off x="2836529" y="3175819"/>
            <a:ext cx="6518633" cy="2300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"/>
              </a:spcBef>
              <a:spcAft>
                <a:spcPts val="450"/>
              </a:spcAft>
            </a:pPr>
            <a:r>
              <a:rPr lang="en-IN" b="1" dirty="0">
                <a:solidFill>
                  <a:srgbClr val="293746"/>
                </a:solidFill>
                <a:latin typeface="Arial"/>
              </a:rPr>
              <a:t>Key Takeaway Summary: 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lang="en-IN" b="1" dirty="0">
                <a:solidFill>
                  <a:srgbClr val="424B53"/>
                </a:solidFill>
                <a:latin typeface="Arial"/>
              </a:rPr>
              <a:t>• Compact Beats Complex: </a:t>
            </a:r>
            <a:r>
              <a:rPr lang="en-IN" b="0" dirty="0">
                <a:solidFill>
                  <a:srgbClr val="424B53"/>
                </a:solidFill>
                <a:latin typeface="Arial"/>
              </a:rPr>
              <a:t>6,949-param Reference CNN achieves 0.924 BA vs 0.886.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lang="en-IN" b="1" dirty="0">
                <a:solidFill>
                  <a:srgbClr val="424B53"/>
                </a:solidFill>
                <a:latin typeface="Arial"/>
              </a:rPr>
              <a:t>• Zero Classical Gain: </a:t>
            </a:r>
            <a:r>
              <a:rPr lang="en-IN" b="0" dirty="0">
                <a:solidFill>
                  <a:srgbClr val="424B53"/>
                </a:solidFill>
                <a:latin typeface="Arial"/>
              </a:rPr>
              <a:t>Stacking SVM/RF heads adds no significant accuracy (p &gt;= 0.34).</a:t>
            </a:r>
          </a:p>
          <a:p>
            <a:pPr>
              <a:spcBef>
                <a:spcPts val="150"/>
              </a:spcBef>
              <a:spcAft>
                <a:spcPts val="450"/>
              </a:spcAft>
            </a:pPr>
            <a:r>
              <a:rPr lang="en-IN" b="1" dirty="0">
                <a:solidFill>
                  <a:srgbClr val="424B53"/>
                </a:solidFill>
                <a:latin typeface="Arial"/>
              </a:rPr>
              <a:t>• Avoid Latency Cliffs: </a:t>
            </a:r>
            <a:r>
              <a:rPr lang="en-IN" b="0" dirty="0">
                <a:solidFill>
                  <a:srgbClr val="424B53"/>
                </a:solidFill>
                <a:latin typeface="Arial"/>
              </a:rPr>
              <a:t>End-to-end CNN runs in 1.58 </a:t>
            </a:r>
            <a:r>
              <a:rPr lang="en-IN" b="0" dirty="0" err="1">
                <a:solidFill>
                  <a:srgbClr val="424B53"/>
                </a:solidFill>
                <a:latin typeface="Arial"/>
              </a:rPr>
              <a:t>ms</a:t>
            </a:r>
            <a:r>
              <a:rPr lang="en-IN" b="0" dirty="0">
                <a:solidFill>
                  <a:srgbClr val="424B53"/>
                </a:solidFill>
                <a:latin typeface="Arial"/>
              </a:rPr>
              <a:t>; RF adds an 11x latency cliff.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3512</Words>
  <Application>Microsoft Office PowerPoint</Application>
  <PresentationFormat>Widescreen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Yokesh G</cp:lastModifiedBy>
  <cp:revision>9</cp:revision>
  <dcterms:created xsi:type="dcterms:W3CDTF">2013-01-27T09:14:16Z</dcterms:created>
  <dcterms:modified xsi:type="dcterms:W3CDTF">2026-10-23T14:26:24Z</dcterms:modified>
  <cp:category/>
</cp:coreProperties>
</file>